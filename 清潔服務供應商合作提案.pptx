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-1371600"/>
            <a:ext cx="5943600" cy="5943600"/>
          </a:xfrm>
          <a:prstGeom prst="ellipse">
            <a:avLst/>
          </a:prstGeom>
          <a:solidFill>
            <a:srgbClr val="02445A">
              <a:alpha val="60000"/>
            </a:srgbClr>
          </a:solidFill>
          <a:ln w="12700">
            <a:solidFill>
              <a:srgbClr val="02445A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914400"/>
            <a:ext cx="3200400" cy="3200400"/>
          </a:xfrm>
          <a:prstGeom prst="ellipse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210312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40"/>
                </a:solidFill>
              </a:rPr>
              <a:t>供應商合作提案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清潔服務平台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合作模式說明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ECDD5"/>
                </a:solidFill>
              </a:rPr>
              <a:t>專業清潔服務 × 平台整合 × 穩定訂單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2530"/>
          </a:solidFill>
          <a:ln w="12700">
            <a:solidFill>
              <a:srgbClr val="1225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9BAA"/>
                </a:solidFill>
              </a:rPr>
              <a:t>2026 · 清潔服務平台  |  機密文件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我們是誰？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</a:rPr>
              <a:t>我們擁有品牌資源與客戶資源（需求端），正在整合專業清潔服務供應商（供給端），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3040"/>
                </a:solidFill>
              </a:rPr>
              <a:t>以平台模式連結雙方，共同提供高品質到府清潔服務。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011680"/>
            <a:ext cx="26060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03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🏢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品牌資源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已建立品牌信任度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與市場知名度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20116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2011680"/>
            <a:ext cx="26060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103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37560" y="2788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客戶資源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29000" y="32004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擁有穩定客群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持續新客導入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0116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011680"/>
            <a:ext cx="26060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103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媒合平台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負責需求整合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派案與客戶管理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18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×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8F6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目前正在尋找：服務品質穩定、可簽承攬合約、接受月結的清潔服務廠商合作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合作模式一 ｜ 採購差價模式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566928"/>
          </a:xfrm>
          <a:prstGeom prst="rect">
            <a:avLst/>
          </a:prstGeom>
          <a:solidFill>
            <a:srgbClr val="E8F6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040"/>
                </a:solidFill>
              </a:rPr>
              <a:t>供應商提供固定採購單價 ➜ 我方自行訂定終端售價 ➜ 差額為我方利潤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18488" y="2240280"/>
            <a:ext cx="57607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1408" y="2148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A896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1645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8529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040"/>
                </a:solidFill>
              </a:rPr>
              <a:t>客戶下單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2735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客戶向我方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提出需求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18288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2316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10128" y="2240280"/>
            <a:ext cx="57607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2148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A896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2834640"/>
            <a:ext cx="1645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11680" y="28529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040"/>
                </a:solidFill>
              </a:rPr>
              <a:t>確認需求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2735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我方確認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服務項目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0" y="18288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01768" y="2240280"/>
            <a:ext cx="57607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2148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A896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03320" y="2834640"/>
            <a:ext cx="1645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03320" y="28529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040"/>
                </a:solidFill>
              </a:rPr>
              <a:t>委派供應商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94760" y="32735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依採購表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安排供應商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06440" y="18288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064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693408" y="2240280"/>
            <a:ext cx="57607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96328" y="2148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A896"/>
                </a:solidFill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94960" y="2834640"/>
            <a:ext cx="1645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94960" y="28529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040"/>
                </a:solidFill>
              </a:rPr>
              <a:t>執行服務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2735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供應商到府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完成服務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98080" y="18288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980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086600" y="2834640"/>
            <a:ext cx="1645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086600" y="28529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040"/>
                </a:solidFill>
              </a:rPr>
              <a:t>收款結算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78040" y="32735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我方收款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月底結帳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160520"/>
            <a:ext cx="8412480" cy="749808"/>
          </a:xfrm>
          <a:prstGeom prst="rect">
            <a:avLst/>
          </a:prstGeom>
          <a:solidFill>
            <a:srgbClr val="1A3040"/>
          </a:solidFill>
          <a:ln w="1270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416052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供應商須知：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提供各項目固定採購單價 ／ 我方對客戶報價由平台自行決定 ／ 每月月底統一結帳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合作模式二 ｜ 佣金抽成模式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566928"/>
          </a:xfrm>
          <a:prstGeom prst="rect">
            <a:avLst/>
          </a:prstGeom>
          <a:solidFill>
            <a:srgbClr val="E0F7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040"/>
                </a:solidFill>
              </a:rPr>
              <a:t>我方轉介客戶 ➜ 供應商自行報價（不得高於市場售價）➜ 成交後我方收取固定佣金%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822960" cy="8229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18488" y="2240280"/>
            <a:ext cx="5760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1408" y="2148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28090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1645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8529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040"/>
                </a:solidFill>
              </a:rPr>
              <a:t>客戶提出需求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735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客戶向我方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詢問服務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1828800"/>
            <a:ext cx="822960" cy="8229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2316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10128" y="2240280"/>
            <a:ext cx="5760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2148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28090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2834640"/>
            <a:ext cx="1645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11680" y="28529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040"/>
                </a:solidFill>
              </a:rPr>
              <a:t>我方轉介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32735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提供客戶資訊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給供應商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0" y="1828800"/>
            <a:ext cx="822960" cy="8229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01768" y="2240280"/>
            <a:ext cx="5760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2148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28090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03320" y="2834640"/>
            <a:ext cx="1645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03320" y="28529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040"/>
                </a:solidFill>
              </a:rPr>
              <a:t>供應商聯絡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94760" y="32735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廠商客服主動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聯絡客戶報價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06440" y="1828800"/>
            <a:ext cx="822960" cy="8229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064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693408" y="2240280"/>
            <a:ext cx="5760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96328" y="2148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28090"/>
                </a:solidFill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94960" y="2834640"/>
            <a:ext cx="1645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94960" y="28529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040"/>
                </a:solidFill>
              </a:rPr>
              <a:t>成交服務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2735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供應商安排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執行服務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98080" y="1828800"/>
            <a:ext cx="822960" cy="8229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980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086600" y="2834640"/>
            <a:ext cx="1645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086600" y="28529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040"/>
                </a:solidFill>
              </a:rPr>
              <a:t>佣金結算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78040" y="32735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依成交額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抽取固定%數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160520"/>
            <a:ext cx="8412480" cy="749808"/>
          </a:xfrm>
          <a:prstGeom prst="rect">
            <a:avLst/>
          </a:prstGeom>
          <a:solidFill>
            <a:srgbClr val="1A3040"/>
          </a:solidFill>
          <a:ln w="1270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416052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供應商須知：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報價由廠商決定（不得高於供應商自訂市場售價）／ 我方收取成交總額固定佣金比例 ／ 每月月底結帳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04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兩種合作模式比較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比較項目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模式一｜採購差價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模式二｜佣金抽成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報價主導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040"/>
                          </a:solidFill>
                        </a:rPr>
                        <a:t>平台訂定終端售價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040"/>
                          </a:solidFill>
                        </a:rPr>
                        <a:t>供應商自行報價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供應商提供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040"/>
                          </a:solidFill>
                        </a:rPr>
                        <a:t>固定採購單價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040"/>
                          </a:solidFill>
                        </a:rPr>
                        <a:t>市場售價（不加價）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平台收益方式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040"/>
                          </a:solidFill>
                        </a:rPr>
                        <a:t>終端售價 - 採購價 = 利潤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040"/>
                          </a:solidFill>
                        </a:rPr>
                        <a:t>成交總額 × 固定佣金%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客戶聯繫方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040"/>
                          </a:solidFill>
                        </a:rPr>
                        <a:t>平台負責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040"/>
                          </a:solidFill>
                        </a:rPr>
                        <a:t>供應商客服直接聯繫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適合情境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040"/>
                          </a:solidFill>
                        </a:rPr>
                        <a:t>標準化、固定報價服務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040"/>
                          </a:solidFill>
                        </a:rPr>
                        <a:t>需客製化報價、複雜服務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結帳方式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040"/>
                          </a:solidFill>
                        </a:rPr>
                        <a:t>每月月底統一結帳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040"/>
                          </a:solidFill>
                        </a:rPr>
                        <a:t>每月月底統一結帳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服務項目與採購報價參考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6572"/>
                </a:solidFill>
              </a:rPr>
              <a:t>以下為模式一之採購上限報價（供應商採購單價不可高於此上限）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4005072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463040"/>
                <a:gridCol w="1554480"/>
                <a:gridCol w="118872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服務項目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客戶身份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終端售價（元）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採購上限（元）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預估毛利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居家鐘點清潔（每小時）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既有客戶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16%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居家鐘點清潔（每小時）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非會員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600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450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裝潢細清（每坪）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既有客戶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1,000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750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裝潢細清（每坪）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非會員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1,200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900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大掃除（每坪）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統一價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700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29%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分離式冷氣清洗（室內機）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既有客戶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2,200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1,800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18%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分離式冷氣清洗（室內機）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非會員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2,500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1,800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28%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吊隱式冷氣清洗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統一價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3,500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2,625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直立式洗衣機清洗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既有客戶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1,800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1,500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17%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直立式洗衣機清洗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非會員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2,000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1,500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滾筒式洗衣機清洗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既有客戶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3,800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3,200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16%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滾筒式洗衣機清洗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非會員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4,200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3,200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24%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除塵蟎（單床）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既有客戶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1,800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1,500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17%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除塵蟎（單床）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非會員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2,100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1,500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29%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水管清洗（1廚2衛）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既有客戶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4,500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3,750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17%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水管清洗（1廚2衛）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非會員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040"/>
                          </a:solidFill>
                        </a:rPr>
                        <a:t>5,000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3,750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52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04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服務派案完整流程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828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8288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2344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40"/>
                </a:solidFill>
              </a:rPr>
              <a:t>接到需求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客戶提出服務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需求（電話/線上）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67712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87168" y="1143000"/>
            <a:ext cx="1828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143000"/>
            <a:ext cx="18288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12344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87168" y="17830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40"/>
                </a:solidFill>
              </a:rPr>
              <a:t>確認需求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78608" y="2148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確認服務項目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地址、坪數/數量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08576" y="1143000"/>
            <a:ext cx="1828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1143000"/>
            <a:ext cx="18288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94376" y="123444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94376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08576" y="17830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40"/>
                </a:solidFill>
              </a:rPr>
              <a:t>報價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0016" y="2148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依模式一/二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提供報價單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10528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29984" y="1143000"/>
            <a:ext cx="1828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29984" y="1143000"/>
            <a:ext cx="18288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15784" y="123444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15784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29984" y="17830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40"/>
                </a:solidFill>
              </a:rPr>
              <a:t>收定金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21424" y="2148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客戶確認後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支付訂金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6384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↓ 繼續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017520"/>
            <a:ext cx="1828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017520"/>
            <a:ext cx="18288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" y="31089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5760" y="36576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40"/>
                </a:solidFill>
              </a:rPr>
              <a:t>安排服務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4023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指派供應商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確認服務時間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267712" y="35661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487168" y="3017520"/>
            <a:ext cx="1828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87168" y="3017520"/>
            <a:ext cx="18288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72968" y="31089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7296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487168" y="36576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40"/>
                </a:solidFill>
              </a:rPr>
              <a:t>當日服務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578608" y="4023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供應商到府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完成服務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389120" y="35661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608576" y="3017520"/>
            <a:ext cx="1828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08576" y="3017520"/>
            <a:ext cx="18288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94376" y="310896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94376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608576" y="36576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40"/>
                </a:solidFill>
              </a:rPr>
              <a:t>收尾款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700016" y="4023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服務完成後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客戶支付尾款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510528" y="35661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729984" y="3017520"/>
            <a:ext cx="1828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729984" y="3017520"/>
            <a:ext cx="18288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15784" y="310896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15784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729984" y="36576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40"/>
                </a:solidFill>
              </a:rPr>
              <a:t>每月結帳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821424" y="4023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彙整當月訂單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6572"/>
                </a:solidFill>
              </a:rPr>
              <a:t>與供應商月結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供應商合作條件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09728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89888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2527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服務品質穩定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166420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具備專業清潔資質，能持續提供穩定且一致的服務品質。如有品質糾紛，需積極配合處理。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77440"/>
            <a:ext cx="109728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624328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624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61872" y="24871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願意簽訂承攬合約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289864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雙方需簽署正式承攬服務合約，明訂服務範圍、報酬方式、糾紛處理等條款，保障雙方權益。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11880"/>
            <a:ext cx="109728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858768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61872" y="37216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接受月結付款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872" y="413308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採每月底統一對帳結款方式。平台彙整當月完成案件後，開立對帳單，月底前完成付款。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E8F6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</a:rPr>
              <a:t>以上三項為合作之基本條件，合作前需完成供應商資料填寫及合約簽署流程。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04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建議建立的表格與工具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2801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12801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40"/>
                </a:solidFill>
              </a:rPr>
              <a:t>供應商基本資料表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847088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</a:rPr>
              <a:t>公司名稱・服務項目・服務地區・聯絡窗口・收款帳號・合約狀態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9728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2801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04488" y="12801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40"/>
                </a:solidFill>
              </a:rPr>
              <a:t>服務派案記錄表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1847088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</a:rPr>
              <a:t>案件編號・客戶資訊・服務日期・指派供應商・項目・金額・進度狀態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0972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09728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81928" y="12801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30568" y="12801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40"/>
                </a:solidFill>
              </a:rPr>
              <a:t>月結對帳表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81928" y="1847088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</a:rPr>
              <a:t>供應商・月份・完成案件數・小計金額・應付款項・付款紀錄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2608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" y="31089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8408" y="31089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40"/>
                </a:solidFill>
              </a:rPr>
              <a:t>客戶需求單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9768" y="3675888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</a:rPr>
              <a:t>客戶姓名・地址・服務項目・特殊需求・預約時段（供轉發廠商用）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292608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55848" y="31089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04488" y="31089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40"/>
                </a:solidFill>
              </a:rPr>
              <a:t>服務完成確認單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55848" y="3675888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</a:rPr>
              <a:t>案件編號・服務人員・到訪時間・完成時間・客戶簽收確認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292608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81928" y="31089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30568" y="31089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40"/>
                </a:solidFill>
              </a:rPr>
              <a:t>各廠商報價比較表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81928" y="3675888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</a:rPr>
              <a:t>服務項目・各供應商採購價・服務地區・最近更新日期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2445A">
              <a:alpha val="70000"/>
            </a:srgbClr>
          </a:solidFill>
          <a:ln w="12700">
            <a:solidFill>
              <a:srgbClr val="02445A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0A896"/>
                </a:solidFill>
              </a:rPr>
              <a:t>合作啟動流程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下一步，一起開始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1920240" cy="2103120"/>
          </a:xfrm>
          <a:prstGeom prst="rect">
            <a:avLst/>
          </a:prstGeom>
          <a:solidFill>
            <a:srgbClr val="1E3A4A"/>
          </a:solidFill>
          <a:ln w="12700">
            <a:solidFill>
              <a:srgbClr val="2A50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1762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填寫供應商資料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CDD5"/>
                </a:solidFill>
              </a:rPr>
              <a:t>提供服務項目、地區、採購單價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87168" y="2103120"/>
            <a:ext cx="1920240" cy="2103120"/>
          </a:xfrm>
          <a:prstGeom prst="rect">
            <a:avLst/>
          </a:prstGeom>
          <a:solidFill>
            <a:srgbClr val="1E3A4A"/>
          </a:solidFill>
          <a:ln w="12700">
            <a:solidFill>
              <a:srgbClr val="2A50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87168" y="21762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78608" y="2743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簽訂承攬合約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78608" y="3291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CDD5"/>
                </a:solidFill>
              </a:rPr>
              <a:t>確認合約條款、雙方簽署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08576" y="2103120"/>
            <a:ext cx="1920240" cy="2103120"/>
          </a:xfrm>
          <a:prstGeom prst="rect">
            <a:avLst/>
          </a:prstGeom>
          <a:solidFill>
            <a:srgbClr val="1E3A4A"/>
          </a:solidFill>
          <a:ln w="12700">
            <a:solidFill>
              <a:srgbClr val="2A50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576" y="21762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0016" y="2743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試單合作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00016" y="3291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CDD5"/>
                </a:solidFill>
              </a:rPr>
              <a:t>初期少量訂單驗證服務流程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9984" y="2103120"/>
            <a:ext cx="1920240" cy="2103120"/>
          </a:xfrm>
          <a:prstGeom prst="rect">
            <a:avLst/>
          </a:prstGeom>
          <a:solidFill>
            <a:srgbClr val="1E3A4A"/>
          </a:solidFill>
          <a:ln w="12700">
            <a:solidFill>
              <a:srgbClr val="2A50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9984" y="21762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21424" y="2743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正式上線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21424" y="3291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CDD5"/>
                </a:solidFill>
              </a:rPr>
              <a:t>納入平台派案系統，穩定接單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A896"/>
                </a:solidFill>
              </a:rPr>
              <a:t>期待與您建立長期穩定的合作關係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清潔服務供應商合作提案</dc:title>
  <dc:subject>PptxGenJS Presentation</dc:subject>
  <dc:creator>PptxGenJS</dc:creator>
  <cp:lastModifiedBy>PptxGenJS</cp:lastModifiedBy>
  <cp:revision>1</cp:revision>
  <dcterms:created xsi:type="dcterms:W3CDTF">2026-03-19T08:20:04Z</dcterms:created>
  <dcterms:modified xsi:type="dcterms:W3CDTF">2026-03-19T08:20:04Z</dcterms:modified>
</cp:coreProperties>
</file>